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交小西宿舍智能体
• 项目从宿舍微环境这个具体问题出发
• 融合无线传感网络、大数据基础与 Agent
• 当前是规划介绍，不是已完成产品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预报到不了床边
• 天气预报解决城市尺度趋势
• 宿舍体验还受到朝向、通风和设备发热影响
• 项目补充室内微环境观测，而不是替代天气预报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三个经历，汇成一个方向
• 天气多变带来本地感知需求
• 智能音箱提供自然语言交互的产品经验
• 两门课程分别提供连接与数据分析方法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我们想做什么
• MVP 优先温湿度和可靠状态
• 光照不冒充 lux
• 自然语言必须回到真实状态来源
• 声音当前不采集、不保存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数据怎样走到一句回答
• 传感器数据进入 UNO R4 WiFi
• 经 Wi-Fi/MQTT 到 Home Assistant
• Hermes 负责自然语言交互
• 分析只读，控制只经 HA 且当前关闭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三类角色，各做一件事
• 传感器是测量节点
• UNO R4 WiFi 是汇聚节点
• 电脑或 VPS 是主要控制节点
• 当前传感器仍以有线方式接入 Arduino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专心测量，主机负责理解
• 微控制器负责稳定采样与重连
• 复杂状态、统计和语言交互放在主机侧
• 阈值和拒绝逻辑优先由确定性程序处理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为什么规划使用 Hermes Agent
• 官方定位是“The Agent That Grows With You”
• 价值在于自然语言、记忆、Skills、多模型与隔离运行
• HA 查询和调用在同一工具集中，不能天然视为只读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Hermes，不只靠口号
• 截图记录于 2026-09-22，筛选条件为 This Month
• Hermes Agent 以 50.8T tokens 排名第一
• 第二名 Claude Code 为 21.1T，前者约为后者 2.4 倍
• 这是动态使用量快照，不等于能力或安全性排名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先读状态，再解释；控制以后再开
• 用户先提出问题
• Agent 读取 HA 状态并说明时效
• 先给解释与建议
• 未来控制必须经过确认和状态回读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已有骨架，不等于链路完成
• 已有协议、Schema、模拟器和配置样例
• UNO R4 WiFi 已确认
• 真实 MQTT、HA、Hermes 与硬件联调仍待完成
• 没有证据的能力保持 Planned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未来可以长成什么样
• 扩展 TTS、无线节点与更多物理量
• 历史分析与异常检测对应课程目标
• 控制只在 HA 路径和权限边界验证后开放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先感知，再理解
• 从真实宿舍微环境问题出发
• 让传感器、Arduino、平台和 Agent 各司其职
• 先验证真实链路与边界，再扩展语音、无线和控制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XIAOXI DORMSENSE · PROJECT INTRODUCTION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SWISS · IKB · 01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49808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230" kern="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WIRELESS SENSOR NETWORK × AGENT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199339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7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交小西</a:t>
            </a:r>
            <a:endParaRPr lang="en-US" sz="4700" dirty="0"/>
          </a:p>
        </p:txBody>
      </p:sp>
      <p:sp>
        <p:nvSpPr>
          <p:cNvPr id="6" name="Text 4"/>
          <p:cNvSpPr txBox="1"/>
          <p:nvPr/>
        </p:nvSpPr>
        <p:spPr>
          <a:xfrm>
            <a:off x="612648" y="2596896"/>
            <a:ext cx="5760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i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宿舍智能体</a:t>
            </a:r>
            <a:endParaRPr lang="en-US" sz="4800" dirty="0"/>
          </a:p>
        </p:txBody>
      </p:sp>
      <p:pic>
        <p:nvPicPr>
          <p:cNvPr id="7" name="Image 0" descr="presentation/dormsense-intro/images/xiaoxi-dormsens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024128"/>
            <a:ext cx="4069080" cy="40690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2648" y="5742432"/>
            <a:ext cx="10972800" cy="0"/>
          </a:xfrm>
          <a:prstGeom prst="line">
            <a:avLst/>
          </a:prstGeom>
          <a:noFill/>
          <a:ln w="8890">
            <a:solidFill>
              <a:srgbClr val="6D82C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12648" y="58978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4E8F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从宿舍微环境感知出发，规划一条可解释、可扩展、有安全边界的自然语言交互链路。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" y="633679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AAB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本科课程项目 · 规划介绍 · UNDER DEVELOPMENT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8778240" y="633679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80" kern="0" dirty="0">
                <a:solidFill>
                  <a:srgbClr val="AAB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SWIPE / ARROW KEYS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CONTEXT · THE GAP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天气没有错，尺度不同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预报到不了床边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089904" y="2011680"/>
            <a:ext cx="0" cy="3986784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901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7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 CITY FORECAST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212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城市尺度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679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告诉我们一座城市大致的冷暖、降水与风，却无法代表一间宿舍此刻的闷热与潮湿。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5285232"/>
            <a:ext cx="493776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5449824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覆盖范围大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733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" y="573328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刷新节奏统一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6016752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难以反映室内局部差异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19019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7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 DORM MICROCLIMATE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21284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床边尺度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2679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真正影响体验的，是室内温湿度、光照和设备状态在具体位置与时刻的变化。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5285232"/>
            <a:ext cx="493776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5449824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就在宿舍内测量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733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573328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保留时间变化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6016752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让状态可以被查询与解释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ORIGIN · THREE FORCES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9C9C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项目方向不是凭空出现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三个经历，汇成一个方向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12648" y="1709928"/>
            <a:ext cx="3429000" cy="4453128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1911096"/>
            <a:ext cx="2743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WHY THIS PROJECT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480060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感知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连接</a:t>
            </a:r>
            <a:endParaRPr lang="en-US" sz="2900" dirty="0"/>
          </a:p>
          <a:p>
            <a:pPr algn="l" indent="0" marL="0">
              <a:buNone/>
            </a:pPr>
            <a:r>
              <a:rPr lang="en-US" sz="29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4224528" y="1709928"/>
            <a:ext cx="7351776" cy="135331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43984" y="191109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500" dirty="0"/>
          </a:p>
        </p:txBody>
      </p:sp>
      <p:sp>
        <p:nvSpPr>
          <p:cNvPr id="11" name="Text 9"/>
          <p:cNvSpPr txBox="1"/>
          <p:nvPr/>
        </p:nvSpPr>
        <p:spPr>
          <a:xfrm>
            <a:off x="5102352" y="187452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天气多变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102352" y="2157984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我们需要比城市预报更贴近宿舍内部的局部观测。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24528" y="3218688"/>
            <a:ext cx="7351776" cy="135331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43984" y="341985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500" dirty="0"/>
          </a:p>
        </p:txBody>
      </p:sp>
      <p:sp>
        <p:nvSpPr>
          <p:cNvPr id="15" name="Text 13"/>
          <p:cNvSpPr txBox="1"/>
          <p:nvPr/>
        </p:nvSpPr>
        <p:spPr>
          <a:xfrm>
            <a:off x="5102352" y="338328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用过智能音箱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102352" y="3666744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小爱同学、小度让“自然语言调用能力”变成直观的产品经验。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24528" y="4727448"/>
            <a:ext cx="7351776" cy="135331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43984" y="4928616"/>
            <a:ext cx="6858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500" dirty="0"/>
          </a:p>
        </p:txBody>
      </p:sp>
      <p:sp>
        <p:nvSpPr>
          <p:cNvPr id="19" name="Text 17"/>
          <p:cNvSpPr txBox="1"/>
          <p:nvPr/>
        </p:nvSpPr>
        <p:spPr>
          <a:xfrm>
            <a:off x="5102352" y="4892040"/>
            <a:ext cx="5897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课程需要落地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102352" y="5175504"/>
            <a:ext cx="5897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无线传感网络负责连接，大数据基础负责让时间序列可追溯、可分析。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 · FOUR PROMISES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先把范围说清楚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我们想做什么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12648" y="1664208"/>
            <a:ext cx="1097280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6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01 / SENSE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温度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湿度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70332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以已确认的真实传感器为准；型号和接线核实后再实现驱动。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91256" y="1664208"/>
            <a:ext cx="0" cy="4498848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5584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6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02 / STATE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355848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光照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节点状态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55848" y="370332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光照先作为归一化量，不冒充 lux；同时区分在线、离线与缺测。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34456" y="1664208"/>
            <a:ext cx="0" cy="4498848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9904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6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03 / ASK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6099048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查询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099048" y="370332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用户描述需求，Agent 从经审核的状态来源读取并解释，而不是编造答案。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677656" y="1664208"/>
            <a:ext cx="0" cy="4498848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42248" y="190195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6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 04 / PRIVACY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842248" y="2743200"/>
            <a:ext cx="2304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声音设想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暂不接入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8842248" y="3703320"/>
            <a:ext cx="23042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当前不采集、不保存声音或语音；任何声环境扩展都需另行隐私评审。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MAIN CHAIN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一条主链，两个安全边界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数据怎样走到一句回答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1143000" y="3767328"/>
            <a:ext cx="9875520" cy="0"/>
          </a:xfrm>
          <a:prstGeom prst="line">
            <a:avLst/>
          </a:prstGeom>
          <a:noFill/>
          <a:ln w="15240">
            <a:solidFill>
              <a:srgbClr val="D4D4D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3717036"/>
            <a:ext cx="100584" cy="10058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3246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· SENSE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34472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环境与传感器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1588" y="3717036"/>
            <a:ext cx="100584" cy="10058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71800" y="3959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EDGE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41605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UNO R4 WiFi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0468" y="3717036"/>
            <a:ext cx="100584" cy="10058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40680" y="3246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TRANSPORT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257800" y="34472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Wi-Fi + MQTT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499348" y="3717036"/>
            <a:ext cx="100584" cy="100584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09560" y="3959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STATE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726680" y="41605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Home Assistant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968228" y="3717036"/>
            <a:ext cx="100584" cy="100584"/>
          </a:xfrm>
          <a:prstGeom prst="ellipse">
            <a:avLst/>
          </a:prstGeom>
          <a:solidFill>
            <a:srgbClr val="002FA7"/>
          </a:solidFill>
          <a:ln w="1270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378440" y="3246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AGENT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44728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Hermes Agent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12648" y="6510528"/>
            <a:ext cx="10881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分析：从 Broker 读取只读遥测镜像                                      控制：只允许经 Home Assistant · 当前默认关闭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ARCHITECTURE · NODE ROLES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9C9C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从课程概念映射到系统组件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三类角色，各做一件事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12648" y="1755648"/>
            <a:ext cx="3401568" cy="4434840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32104" y="1993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01 · MEASURE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50109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测量节点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" y="53675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各类传感器对应不同物理量。当前受硬件条件限制，传感器以有线方式连接 Arduino。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32104" y="5925312"/>
            <a:ext cx="283464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" y="598932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spc="12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· PHYSICAL SIGNAL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379976" y="1755648"/>
            <a:ext cx="3401568" cy="4434840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1993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BFC8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02 · AGGREGATE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50109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汇聚节点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53675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UNO R4 WiFi 定时采样、校验状态、组织 JSON，并通过 Wi-Fi/MQTT 发送。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99432" y="5925312"/>
            <a:ext cx="2834640" cy="0"/>
          </a:xfrm>
          <a:prstGeom prst="line">
            <a:avLst/>
          </a:prstGeom>
          <a:noFill/>
          <a:ln w="8890">
            <a:solidFill>
              <a:srgbClr val="6E7DB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598932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spc="120" kern="0" dirty="0">
                <a:solidFill>
                  <a:srgbClr val="BFC8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 · DETERMINISTIC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147304" y="1755648"/>
            <a:ext cx="3401568" cy="4434840"/>
          </a:xfrm>
          <a:prstGeom prst="rect">
            <a:avLst/>
          </a:prstGeom>
          <a:solidFill>
            <a:srgbClr val="0A0A0A"/>
          </a:solidFill>
          <a:ln w="762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66760" y="19933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BFC8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LAYER 03 · CONTROL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5010912"/>
            <a:ext cx="28346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控制节点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66760" y="5367528"/>
            <a:ext cx="28346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电脑或 VPS 承载 Broker、Home Assistant、分析与 Agent；具体容器化方式仍待联调。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366760" y="5925312"/>
            <a:ext cx="2834640" cy="0"/>
          </a:xfrm>
          <a:prstGeom prst="line">
            <a:avLst/>
          </a:prstGeom>
          <a:noFill/>
          <a:ln w="8890">
            <a:solidFill>
              <a:srgbClr val="6E7DB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66760" y="598932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spc="120" kern="0" dirty="0">
                <a:solidFill>
                  <a:srgbClr val="BFC8E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 · COMPUTE + ORCHESTRATION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EDGE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864608" y="320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/ 12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565392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HOST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9418320" y="320040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7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COMPUTE BOUNDARY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27614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ARDUINO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3063240"/>
            <a:ext cx="4114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专心</a:t>
            </a:r>
            <a:endParaRPr lang="en-US" sz="4300" dirty="0"/>
          </a:p>
          <a:p>
            <a:pPr algn="l" indent="0" marL="0">
              <a:buNone/>
            </a:pPr>
            <a:r>
              <a:rPr lang="en-US" sz="43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测量</a:t>
            </a:r>
            <a:endParaRPr lang="en-US" sz="4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64008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40" kern="0" dirty="0">
                <a:solidFill>
                  <a:srgbClr val="C5C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采样 · 缺测 · 重连 · 序号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6565392" y="23957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PC / VPS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6565392" y="2697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负责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565392" y="32004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900" i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3900" dirty="0"/>
          </a:p>
        </p:txBody>
      </p:sp>
      <p:sp>
        <p:nvSpPr>
          <p:cNvPr id="14" name="Text 12"/>
          <p:cNvSpPr txBox="1"/>
          <p:nvPr/>
        </p:nvSpPr>
        <p:spPr>
          <a:xfrm>
            <a:off x="6565392" y="3913632"/>
            <a:ext cx="41148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算力有限的边缘节点不运行复杂 Agent；主机负责状态管理、历史分析和自然语言交互。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565392" y="6400800"/>
            <a:ext cx="3840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4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不逐样本调用 LLM · 规则先行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AGENT · HERMES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THE AGENT THAT GROWS WITH YOU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为什么规划使用 Hermes Agent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12648" y="1664208"/>
            <a:ext cx="3502152" cy="199339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自然语言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把“宿舍现在怎么样”转成状态查询与解释。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664208"/>
            <a:ext cx="3502152" cy="199339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持久记忆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官方定位强调跨会话记忆与随使用成长。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9288" y="1664208"/>
            <a:ext cx="3502152" cy="199339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0216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Skills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87221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把可复用流程沉淀为技能，而不是每次重新描述。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" y="3803904"/>
            <a:ext cx="3502152" cy="199339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多模型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6557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可连接不同模型提供方，选择适合任务的推理能力。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3803904"/>
            <a:ext cx="3502152" cy="1993392"/>
          </a:xfrm>
          <a:prstGeom prst="rect">
            <a:avLst/>
          </a:prstGeom>
          <a:solidFill>
            <a:srgbClr val="F0F0EE"/>
          </a:solidFill>
          <a:ln w="7620">
            <a:solidFill>
              <a:srgbClr val="F0F0E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隔离运行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官方提供多种 sandbox backend；本项目仍需独立验证部署。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9288" y="3803904"/>
            <a:ext cx="3502152" cy="1993392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216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Home Assistant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87221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30" kern="0" dirty="0">
                <a:solidFill>
                  <a:srgbClr val="CCD5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20216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上游有 HA 工具，但读写同属一个工具集，不能天然视为只读。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12648" y="6510528"/>
            <a:ext cx="10881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2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SOURCES · HERMES-AGENT.NOUSRESEARCH.COM · NOUSRESEARCH/HERMES-AGENT OFFICIAL DOCS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EVIDENCE · OPENROUTER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MONTHLY SNAPSHOT · CAPTURED 2026-09-22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 Hermes，不只靠口号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12648" y="1664208"/>
            <a:ext cx="3291840" cy="0"/>
          </a:xfrm>
          <a:prstGeom prst="line">
            <a:avLst/>
          </a:prstGeom>
          <a:noFill/>
          <a:ln w="19050">
            <a:solidFill>
              <a:srgbClr val="002FA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1856232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4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OPENROUTER GLOBAL RANKING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12648" y="22128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#1</a:t>
            </a:r>
            <a:endParaRPr lang="en-US" sz="5800" dirty="0"/>
          </a:p>
        </p:txBody>
      </p:sp>
      <p:sp>
        <p:nvSpPr>
          <p:cNvPr id="9" name="Text 7"/>
          <p:cNvSpPr txBox="1"/>
          <p:nvPr/>
        </p:nvSpPr>
        <p:spPr>
          <a:xfrm>
            <a:off x="612648" y="3273552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50.8T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12648" y="39136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tokens · This Month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12648" y="48646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2.4×</a:t>
            </a:r>
            <a:endParaRPr lang="en-US" sz="31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" y="5394960"/>
            <a:ext cx="32461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约为截图中第二名 Claude Code（21.1T）的 2.4 倍</a:t>
            </a:r>
            <a:endParaRPr lang="en-US" sz="1150" dirty="0"/>
          </a:p>
        </p:txBody>
      </p:sp>
      <p:pic>
        <p:nvPicPr>
          <p:cNvPr id="13" name="Image 0" descr="presentation/dormsense-intro/images/openrouter-global-ranking-2026-09-2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399032"/>
            <a:ext cx="6565392" cy="517550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709160" y="641908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spc="100" kern="0" dirty="0">
                <a:solidFill>
                  <a:srgbClr val="0A0A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OPENROUTER GLOBAL RANKING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8412480" y="641908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截图时点数据 · 排名会动态变化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INTERACTION · CONTROLLED LOOP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9C9C9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不是“说一句就随便执行”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先读状态，再解释；控制以后再开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12648" y="1828800"/>
            <a:ext cx="4297680" cy="0"/>
          </a:xfrm>
          <a:prstGeom prst="line">
            <a:avLst/>
          </a:prstGeom>
          <a:noFill/>
          <a:ln w="8890">
            <a:solidFill>
              <a:srgbClr val="36363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12648" y="212140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075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用户以自然语言提出问题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" y="2862072"/>
            <a:ext cx="4297680" cy="0"/>
          </a:xfrm>
          <a:prstGeom prst="line">
            <a:avLst/>
          </a:prstGeom>
          <a:noFill/>
          <a:ln w="8890">
            <a:solidFill>
              <a:srgbClr val="36363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" y="315468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10896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从 HA 读取当前状态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" y="3895344"/>
            <a:ext cx="4297680" cy="0"/>
          </a:xfrm>
          <a:prstGeom prst="line">
            <a:avLst/>
          </a:prstGeom>
          <a:noFill/>
          <a:ln w="8890">
            <a:solidFill>
              <a:srgbClr val="36363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" y="418795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41422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解释数据、时效与不确定性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" y="4928616"/>
            <a:ext cx="4297680" cy="0"/>
          </a:xfrm>
          <a:prstGeom prst="line">
            <a:avLst/>
          </a:prstGeom>
          <a:noFill/>
          <a:ln w="8890">
            <a:solidFill>
              <a:srgbClr val="36363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2648" y="522122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5B7B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" y="517550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未来经确认后调用低风险场景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" y="5961888"/>
            <a:ext cx="4297680" cy="0"/>
          </a:xfrm>
          <a:prstGeom prst="line">
            <a:avLst/>
          </a:prstGeom>
          <a:noFill/>
          <a:ln w="8890">
            <a:solidFill>
              <a:srgbClr val="3636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76288" y="2212848"/>
            <a:ext cx="3246120" cy="3246120"/>
          </a:xfrm>
          <a:prstGeom prst="ellipse">
            <a:avLst/>
          </a:prstGeom>
          <a:solidFill>
            <a:srgbClr val="0A0A0A">
              <a:alpha val="0"/>
            </a:srgbClr>
          </a:solidFill>
          <a:ln w="16510">
            <a:solidFill>
              <a:srgbClr val="5B7B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09560" y="18288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AFA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ASK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AFA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7818120" y="56509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AFA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EXPLAIN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3749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FAFA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CONFIRM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439912" y="2130552"/>
            <a:ext cx="128016" cy="128016"/>
          </a:xfrm>
          <a:prstGeom prst="ellipse">
            <a:avLst/>
          </a:prstGeom>
          <a:solidFill>
            <a:srgbClr val="5B7BFF"/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40112" y="3767328"/>
            <a:ext cx="128016" cy="128016"/>
          </a:xfrm>
          <a:prstGeom prst="ellipse">
            <a:avLst/>
          </a:prstGeom>
          <a:solidFill>
            <a:srgbClr val="5B7BFF"/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39912" y="5376672"/>
            <a:ext cx="128016" cy="128016"/>
          </a:xfrm>
          <a:prstGeom prst="ellipse">
            <a:avLst/>
          </a:prstGeom>
          <a:solidFill>
            <a:srgbClr val="5B7BFF"/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12280" y="3767328"/>
            <a:ext cx="128016" cy="128016"/>
          </a:xfrm>
          <a:prstGeom prst="ellipse">
            <a:avLst/>
          </a:prstGeom>
          <a:solidFill>
            <a:srgbClr val="5B7BFF"/>
          </a:solidFill>
          <a:ln w="12700">
            <a:solidFill>
              <a:srgbClr val="5B7B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43800" y="35204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FAFAF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LOOP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398678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110" kern="0" dirty="0">
                <a:solidFill>
                  <a:srgbClr val="B8B8B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READ · EXPLAIN · CONFIRM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STATUS · EVIDENCE FIRST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规划介绍最重要的是不把未来写成现在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已有骨架，不等于链路完成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089904" y="1865376"/>
            <a:ext cx="0" cy="4133088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7922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7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  AVAILABLE NOW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0939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工程骨架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255117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协议、Schema、模拟器、Home Assistant 配置样例、部署说明与基础检查已经形成。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8368" y="5285232"/>
            <a:ext cx="493776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05256" y="5449824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UNO R4 WiFi 已确认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" y="5733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" y="573328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模拟数据显式标记 simulated=true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6016752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架构与安全边界已有文档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179222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70" kern="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  NOT VERIFIED YET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565392" y="209397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3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真实验收</a:t>
            </a:r>
            <a:endParaRPr lang="en-US" sz="2300" dirty="0"/>
          </a:p>
        </p:txBody>
      </p:sp>
      <p:sp>
        <p:nvSpPr>
          <p:cNvPr id="19" name="Text 17"/>
          <p:cNvSpPr txBox="1"/>
          <p:nvPr/>
        </p:nvSpPr>
        <p:spPr>
          <a:xfrm>
            <a:off x="6565392" y="2551176"/>
            <a:ext cx="4663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传感器型号、真实采样、MQTT/HA/Hermes 联调、设备控制与完整无线节点仍待现场验证。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65392" y="5285232"/>
            <a:ext cx="4937760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65392" y="5449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5449824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不虚构硬件测试结果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565392" y="57332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5733288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不把静态配置说成已部署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565392" y="6016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002FA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812280" y="6016752"/>
            <a:ext cx="4416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没有权限边界就不开控制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20040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ROADMAP · AFTER THE MVP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9738360" y="320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21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 / 13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612648" y="71323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spc="130" kern="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先完成最小闭环，再扩展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12648" y="93268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未来可以长成什么样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612648" y="1664208"/>
            <a:ext cx="3502152" cy="1993392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TTS 输出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46557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让回答从屏幕文字扩展到可听见的反馈。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15968" y="1664208"/>
            <a:ext cx="3502152" cy="1993392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真正无线传感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CCD5F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49884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从有线传感器接入过渡到可扩展的无线节点。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19288" y="1664208"/>
            <a:ext cx="3502152" cy="1993392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02168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更多物理量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872216" y="1810512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962656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在型号、电气与隐私确认后增加新的测量通道。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" y="3803904"/>
            <a:ext cx="3502152" cy="1993392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9552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历史分析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346557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清洗、窗口统计、趋势图与确定性异常检测。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15968" y="3803904"/>
            <a:ext cx="3502152" cy="1993392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9884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安全控制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6889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49884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仅通过 HA，经白名单、确认与状态回读后开放。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19288" y="3803904"/>
            <a:ext cx="3502152" cy="1993392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02168" y="39502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多节点扩展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0872216" y="3950208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8202168" y="5102352"/>
            <a:ext cx="3035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比较节点身份、可靠性、RSSI 与断线恢复。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5848" cy="6858000"/>
          </a:xfrm>
          <a:prstGeom prst="rect">
            <a:avLst/>
          </a:prstGeom>
          <a:solidFill>
            <a:srgbClr val="002FA7"/>
          </a:solidFill>
          <a:ln w="7620">
            <a:solidFill>
              <a:srgbClr val="002FA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5848" y="0"/>
            <a:ext cx="6095848" cy="6858000"/>
          </a:xfrm>
          <a:prstGeom prst="rect">
            <a:avLst/>
          </a:prstGeom>
          <a:solidFill>
            <a:srgbClr val="FAFAF8"/>
          </a:solidFill>
          <a:ln w="7620">
            <a:solidFill>
              <a:srgbClr val="FAFA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38912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/ 13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32004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80" kern="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CLOSING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6565392" y="320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8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TAKEAWAYS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10424160" y="320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spc="18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RULES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438912" y="24231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D6DDF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MANIFESTO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438912" y="276148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先感知。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再理解。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8912" y="4041648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2E7F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把宿舍里真实发生的变化，变成有来源、有边界的回答。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" y="6336792"/>
            <a:ext cx="5257800" cy="0"/>
          </a:xfrm>
          <a:prstGeom prst="line">
            <a:avLst/>
          </a:prstGeom>
          <a:noFill/>
          <a:ln w="8890">
            <a:solidFill>
              <a:srgbClr val="6D82C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642823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150" kern="0" dirty="0">
                <a:solidFill>
                  <a:srgbClr val="AAB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XIAOXI DORMSENSE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642823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AAB7D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Q&amp;A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565392" y="2212848"/>
            <a:ext cx="4956048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65392" y="2368296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7351776" y="233172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从真实问题出发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51776" y="2615184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天气预报提供城市尺度，项目补足宿舍微环境尺度。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65392" y="3474720"/>
            <a:ext cx="4956048" cy="0"/>
          </a:xfrm>
          <a:prstGeom prst="line">
            <a:avLst/>
          </a:prstGeom>
          <a:noFill/>
          <a:ln w="8890">
            <a:solidFill>
              <a:srgbClr val="D4D4D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65392" y="3630168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2700" dirty="0"/>
          </a:p>
        </p:txBody>
      </p:sp>
      <p:sp>
        <p:nvSpPr>
          <p:cNvPr id="20" name="Text 18"/>
          <p:cNvSpPr txBox="1"/>
          <p:nvPr/>
        </p:nvSpPr>
        <p:spPr>
          <a:xfrm>
            <a:off x="7351776" y="3593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让节点各司其职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51776" y="3877056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Arduino 可靠采样，主机管理状态、分析与自然语言交互。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65392" y="4736592"/>
            <a:ext cx="4956048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65392" y="4892040"/>
            <a:ext cx="7498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2700" dirty="0"/>
          </a:p>
        </p:txBody>
      </p:sp>
      <p:sp>
        <p:nvSpPr>
          <p:cNvPr id="24" name="Text 22"/>
          <p:cNvSpPr txBox="1"/>
          <p:nvPr/>
        </p:nvSpPr>
        <p:spPr>
          <a:xfrm>
            <a:off x="7351776" y="4855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先验证，再扩展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351776" y="5138928"/>
            <a:ext cx="4069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7373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真实链路、权限边界和隐私审查通过后，再谈 TTS、无线节点与家居控制。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565392" y="5998464"/>
            <a:ext cx="4956048" cy="0"/>
          </a:xfrm>
          <a:prstGeom prst="line">
            <a:avLst/>
          </a:prstGeom>
          <a:noFill/>
          <a:ln w="15240">
            <a:solidFill>
              <a:srgbClr val="002FA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58200" y="6400800"/>
            <a:ext cx="3063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spc="120" kern="0" dirty="0">
                <a:solidFill>
                  <a:srgbClr val="7373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→ 谢谢 · END OF INTRODUCTION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Independent student 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XiaoXi DormSense · 交小西宿舍智能体</dc:title>
  <dc:subject>交小西宿舍智能体项目规划介绍</dc:subject>
  <dc:creator>XiaoXi DormSense course project</dc:creator>
  <cp:lastModifiedBy>XiaoXi DormSense course project</cp:lastModifiedBy>
  <cp:revision>1</cp:revision>
  <dcterms:created xsi:type="dcterms:W3CDTF">2026-09-22T01:24:47Z</dcterms:created>
  <dcterms:modified xsi:type="dcterms:W3CDTF">2026-09-22T01:24:47Z</dcterms:modified>
</cp:coreProperties>
</file>